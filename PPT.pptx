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69" r:id="rId2"/>
    <p:sldId id="256" r:id="rId3"/>
    <p:sldId id="257" r:id="rId4"/>
    <p:sldId id="258" r:id="rId5"/>
    <p:sldId id="259" r:id="rId6"/>
    <p:sldId id="260" r:id="rId7"/>
    <p:sldId id="270" r:id="rId8"/>
    <p:sldId id="271" r:id="rId9"/>
    <p:sldId id="272" r:id="rId10"/>
    <p:sldId id="262" r:id="rId11"/>
    <p:sldId id="263" r:id="rId12"/>
    <p:sldId id="265" r:id="rId13"/>
    <p:sldId id="261" r:id="rId14"/>
    <p:sldId id="273" r:id="rId15"/>
    <p:sldId id="267" r:id="rId16"/>
  </p:sldIdLst>
  <p:sldSz cx="12192000" cy="6858000"/>
  <p:notesSz cx="6858000" cy="9144000"/>
  <p:embeddedFontLst>
    <p:embeddedFont>
      <p:font typeface="Urbanist" panose="020B0604020202020204" charset="0"/>
      <p:regular r:id="rId18"/>
      <p:bold r:id="rId19"/>
      <p:italic r:id="rId20"/>
      <p:boldItalic r:id="rId21"/>
    </p:embeddedFont>
    <p:embeddedFont>
      <p:font typeface="Inter" panose="020B0604020202020204" charset="0"/>
      <p:regular r:id="rId22"/>
      <p:bold r:id="rId23"/>
      <p:italic r:id="rId24"/>
      <p:boldItalic r:id="rId25"/>
    </p:embeddedFont>
    <p:embeddedFont>
      <p:font typeface="Inter Medium" panose="020B0604020202020204" charset="0"/>
      <p:regular r:id="rId26"/>
      <p:bold r:id="rId27"/>
      <p:italic r:id="rId28"/>
      <p:boldItalic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Inter SemiBold" panose="020B060402020202020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933045-FCCE-44D1-92DD-24A84FD2DA52}">
  <a:tblStyle styleId="{5C933045-FCCE-44D1-92DD-24A84FD2DA5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59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viewProps" Target="viewProps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2430055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9881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702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5744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7948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26593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54531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05392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32702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95838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1" name="Google Shape;24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30905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1541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38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9837" y="1872555"/>
            <a:ext cx="7172325" cy="311274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140630" y="2263080"/>
            <a:ext cx="5910738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 dirty="0">
                <a:solidFill>
                  <a:srgbClr val="E8521A"/>
                </a:solidFill>
                <a:latin typeface="Urbanist"/>
                <a:ea typeface="Urbanist"/>
                <a:cs typeface="Urbanist"/>
                <a:sym typeface="Urbanist"/>
              </a:rPr>
              <a:t>EMBER</a:t>
            </a:r>
            <a:r>
              <a:rPr lang="en-US" sz="63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NET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281362" y="3253680"/>
            <a:ext cx="562927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1" u="none" strike="noStrike" cap="none">
                <a:solidFill>
                  <a:srgbClr val="F2EDE5"/>
                </a:solidFill>
                <a:latin typeface="Inter"/>
                <a:ea typeface="Inter"/>
                <a:cs typeface="Inter"/>
                <a:sym typeface="Inter"/>
              </a:rPr>
              <a:t>Offline Emergency Mesh Networking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524500" y="3966120"/>
            <a:ext cx="1143000" cy="38100"/>
          </a:xfrm>
          <a:prstGeom prst="rect">
            <a:avLst/>
          </a:prstGeom>
          <a:solidFill>
            <a:srgbClr val="E852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281362" y="4289970"/>
            <a:ext cx="56292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2EDE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 INTERNET • NO CELL SIGNAL • NO BOUNDARIES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A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4825841" y="2209800"/>
            <a:ext cx="254031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E8521A"/>
                </a:solidFill>
                <a:latin typeface="Urbanist"/>
                <a:ea typeface="Urbanist"/>
                <a:cs typeface="Urbanist"/>
                <a:sym typeface="Urbanist"/>
              </a:rPr>
              <a:t>PART I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619750" y="3409950"/>
            <a:ext cx="952500" cy="38100"/>
          </a:xfrm>
          <a:prstGeom prst="rect">
            <a:avLst/>
          </a:prstGeom>
          <a:solidFill>
            <a:srgbClr val="E852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085373" y="3733800"/>
            <a:ext cx="1002125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2EDE5"/>
                </a:solidFill>
                <a:latin typeface="Urbanist"/>
                <a:ea typeface="Urbanist"/>
                <a:cs typeface="Urbanist"/>
                <a:sym typeface="Urbanist"/>
              </a:rPr>
              <a:t>THE CONNECTIVITY GAP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A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66912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81025" y="1966912"/>
            <a:ext cx="549068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E8521A"/>
                </a:solidFill>
                <a:latin typeface="Urbanist"/>
                <a:ea typeface="Urbanist"/>
                <a:cs typeface="Urbanist"/>
                <a:sym typeface="Urbanist"/>
              </a:rPr>
              <a:t>When Disaster Strikes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81025" y="2519362"/>
            <a:ext cx="52292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2EDE5"/>
                </a:solidFill>
                <a:latin typeface="Inter"/>
                <a:ea typeface="Inter"/>
                <a:cs typeface="Inter"/>
                <a:sym typeface="Inter"/>
              </a:rPr>
              <a:t>During catastrophic events like the 2022 Pakistan Floods, traditional infrastructure fails immediately. Cell towers are submerged or lose power, leaving millions isolated.</a:t>
            </a:r>
            <a:endParaRPr/>
          </a:p>
        </p:txBody>
      </p:sp>
      <p:pic>
        <p:nvPicPr>
          <p:cNvPr id="106" name="Google Shape;10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976437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81025" y="4024312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2EDE5"/>
                </a:solidFill>
                <a:latin typeface="Inter"/>
                <a:ea typeface="Inter"/>
                <a:cs typeface="Inter"/>
                <a:sym typeface="Inter"/>
              </a:rPr>
              <a:t>Towers go offline within hours.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81025" y="4471987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2EDE5"/>
                </a:solidFill>
                <a:latin typeface="Inter"/>
                <a:ea typeface="Inter"/>
                <a:cs typeface="Inter"/>
                <a:sym typeface="Inter"/>
              </a:rPr>
              <a:t>Internet-based apps (WhatsApp, Maps) fail.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81025" y="4919662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2EDE5"/>
                </a:solidFill>
                <a:latin typeface="Inter"/>
                <a:ea typeface="Inter"/>
                <a:cs typeface="Inter"/>
                <a:sym typeface="Inter"/>
              </a:rPr>
              <a:t>Rescuers lose the "Golden Hour" to locate victims.</a:t>
            </a:r>
            <a:endParaRPr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07670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524375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97205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71525" y="581025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2EDE5"/>
                </a:solidFill>
                <a:latin typeface="Urbanist"/>
                <a:ea typeface="Urbanist"/>
                <a:cs typeface="Urbanist"/>
                <a:sym typeface="Urbanist"/>
              </a:rPr>
              <a:t>INFRASTRUCTURE FAILURE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E852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A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612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19350"/>
            <a:ext cx="5229225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300" y="261461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939642" y="3171824"/>
            <a:ext cx="487060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2EDE5"/>
                </a:solidFill>
                <a:latin typeface="Urbanist"/>
                <a:ea typeface="Urbanist"/>
                <a:cs typeface="Urbanist"/>
                <a:sym typeface="Urbanist"/>
              </a:rPr>
              <a:t>Multi-Hop Relay</a:t>
            </a:r>
            <a:endParaRPr dirty="0"/>
          </a:p>
        </p:txBody>
      </p:sp>
      <p:sp>
        <p:nvSpPr>
          <p:cNvPr id="124" name="Google Shape;124;p16"/>
          <p:cNvSpPr txBox="1"/>
          <p:nvPr/>
        </p:nvSpPr>
        <p:spPr>
          <a:xfrm>
            <a:off x="876300" y="3605212"/>
            <a:ext cx="463867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DE5"/>
                </a:solidFill>
                <a:latin typeface="Inter"/>
                <a:ea typeface="Inter"/>
                <a:cs typeface="Inter"/>
                <a:sym typeface="Inter"/>
              </a:rPr>
              <a:t>EmberNet transforms every Android phone into a network node. Messages hop from device to device, extending communication range far beyond the point of origin without any central server.</a:t>
            </a:r>
            <a:endParaRPr dirty="0"/>
          </a:p>
        </p:txBody>
      </p:sp>
      <p:sp>
        <p:nvSpPr>
          <p:cNvPr id="126" name="Google Shape;126;p16"/>
          <p:cNvSpPr txBox="1"/>
          <p:nvPr/>
        </p:nvSpPr>
        <p:spPr>
          <a:xfrm>
            <a:off x="771525" y="581025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2EDE5"/>
                </a:solidFill>
                <a:latin typeface="Urbanist"/>
                <a:ea typeface="Urbanist"/>
                <a:cs typeface="Urbanist"/>
                <a:sym typeface="Urbanist"/>
              </a:rPr>
              <a:t>THE MESH SOLUTION</a:t>
            </a:r>
            <a:endParaRPr dirty="0"/>
          </a:p>
        </p:txBody>
      </p:sp>
      <p:sp>
        <p:nvSpPr>
          <p:cNvPr id="127" name="Google Shape;127;p16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E852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437120" y="2508069"/>
            <a:ext cx="2995749" cy="229035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5307" y="2488879"/>
            <a:ext cx="4010585" cy="24292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A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065417"/>
            <a:ext cx="3486150" cy="2249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3065417"/>
            <a:ext cx="3486150" cy="2249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3065417"/>
            <a:ext cx="3486150" cy="224953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876300" y="3381375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2EDE5"/>
                </a:solidFill>
                <a:latin typeface="Urbanist"/>
                <a:ea typeface="Urbanist"/>
                <a:cs typeface="Urbanist"/>
                <a:sym typeface="Urbanist"/>
              </a:rPr>
              <a:t>Smart SOS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76300" y="3800475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2EDE5"/>
                </a:solidFill>
                <a:latin typeface="Inter"/>
                <a:ea typeface="Inter"/>
                <a:cs typeface="Inter"/>
                <a:sym typeface="Inter"/>
              </a:rPr>
              <a:t>One-tap broadcast of GPS coordinates, battery level, and device ID. Sent every 4 seconds automatically.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4648200" y="3381375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2EDE5"/>
                </a:solidFill>
                <a:latin typeface="Urbanist"/>
                <a:ea typeface="Urbanist"/>
                <a:cs typeface="Urbanist"/>
                <a:sym typeface="Urbanist"/>
              </a:rPr>
              <a:t>Offline Maps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4648200" y="3800475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DE5"/>
                </a:solidFill>
                <a:latin typeface="Inter"/>
                <a:ea typeface="Inter"/>
                <a:cs typeface="Inter"/>
                <a:sym typeface="Inter"/>
              </a:rPr>
              <a:t>Uses pre-cached OSM tiles. Shows safe zones and pulsing red pins for victims with zero data.</a:t>
            </a:r>
            <a:endParaRPr dirty="0"/>
          </a:p>
        </p:txBody>
      </p:sp>
      <p:sp>
        <p:nvSpPr>
          <p:cNvPr id="140" name="Google Shape;140;p17"/>
          <p:cNvSpPr txBox="1"/>
          <p:nvPr/>
        </p:nvSpPr>
        <p:spPr>
          <a:xfrm>
            <a:off x="8420100" y="3381375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2EDE5"/>
                </a:solidFill>
                <a:latin typeface="Urbanist"/>
                <a:ea typeface="Urbanist"/>
                <a:cs typeface="Urbanist"/>
                <a:sym typeface="Urbanist"/>
              </a:rPr>
              <a:t>BLE Mesh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420100" y="3800475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2EDE5"/>
                </a:solidFill>
                <a:latin typeface="Inter"/>
                <a:ea typeface="Inter"/>
                <a:cs typeface="Inter"/>
                <a:sym typeface="Inter"/>
              </a:rPr>
              <a:t>Bluetooth Low Energy provides multi-hop delivery reaching up to 50m per hop with minimal power drain.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771525" y="581025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2EDE5"/>
                </a:solidFill>
                <a:latin typeface="Urbanist"/>
                <a:ea typeface="Urbanist"/>
                <a:cs typeface="Urbanist"/>
                <a:sym typeface="Urbanist"/>
              </a:rPr>
              <a:t>CORE CAPABILITIES</a:t>
            </a:r>
            <a:endParaRPr dirty="0"/>
          </a:p>
        </p:txBody>
      </p:sp>
      <p:sp>
        <p:nvSpPr>
          <p:cNvPr id="145" name="Google Shape;145;p17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E852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Google Shape;145;p17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E852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81050" y="581025"/>
            <a:ext cx="8305800" cy="50482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300" b="1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App Screens</a:t>
            </a:r>
            <a:endParaRPr lang="en-US" sz="3300" b="1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1025" y="1376362"/>
            <a:ext cx="3819525" cy="5810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smtClean="0">
                <a:solidFill>
                  <a:schemeClr val="accent6">
                    <a:lumMod val="50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MAP Tab</a:t>
            </a:r>
            <a:endParaRPr lang="en-US" sz="2000" b="1" dirty="0">
              <a:solidFill>
                <a:schemeClr val="accent6">
                  <a:lumMod val="50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2462" y="2076451"/>
            <a:ext cx="3895725" cy="22336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Offline city </a:t>
            </a:r>
            <a:r>
              <a:rPr lang="en-US" sz="2000" dirty="0" smtClean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map</a:t>
            </a:r>
            <a:endParaRPr lang="en-US" sz="20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Blue </a:t>
            </a:r>
            <a:r>
              <a:rPr lang="en-US" sz="20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GPS </a:t>
            </a:r>
            <a:r>
              <a:rPr lang="en-US" sz="2000" dirty="0" smtClean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dot</a:t>
            </a:r>
            <a:endParaRPr lang="en-US" sz="20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Green </a:t>
            </a:r>
            <a:r>
              <a:rPr lang="en-US" sz="20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safe zone </a:t>
            </a:r>
            <a:r>
              <a:rPr lang="en-US" sz="2000" dirty="0" smtClean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markers</a:t>
            </a:r>
            <a:endParaRPr lang="en-US" sz="20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Red </a:t>
            </a:r>
            <a:r>
              <a:rPr lang="en-US" sz="20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SOS alert </a:t>
            </a:r>
            <a:r>
              <a:rPr lang="en-US" sz="2000" dirty="0" smtClean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pins</a:t>
            </a:r>
            <a:endParaRPr lang="en-US" sz="20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Download </a:t>
            </a:r>
            <a:r>
              <a:rPr lang="en-US" sz="20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map for offline </a:t>
            </a:r>
            <a:r>
              <a:rPr lang="en-US" sz="2000" dirty="0" smtClean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use</a:t>
            </a:r>
            <a:endParaRPr lang="en-US" sz="20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294452" y="742949"/>
            <a:ext cx="3106848" cy="59912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452" y="0"/>
            <a:ext cx="32592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421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Google Shape;145;p17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E852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81050" y="581025"/>
            <a:ext cx="8305800" cy="50482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300" b="1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App Screens</a:t>
            </a:r>
            <a:endParaRPr lang="en-US" sz="3300" b="1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1025" y="1376362"/>
            <a:ext cx="3819525" cy="5810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smtClean="0">
                <a:solidFill>
                  <a:schemeClr val="accent6">
                    <a:lumMod val="50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SOS Tab</a:t>
            </a:r>
            <a:endParaRPr lang="en-US" sz="2000" b="1" dirty="0">
              <a:solidFill>
                <a:schemeClr val="accent6">
                  <a:lumMod val="50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2462" y="2076451"/>
            <a:ext cx="3895725" cy="22336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Big </a:t>
            </a:r>
            <a:r>
              <a:rPr lang="en-US" sz="20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orange SOS </a:t>
            </a:r>
            <a:r>
              <a:rPr lang="en-US" sz="2000" dirty="0" smtClean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button</a:t>
            </a:r>
            <a:endParaRPr lang="en-US" sz="20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Live </a:t>
            </a:r>
            <a:r>
              <a:rPr lang="en-US" sz="20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GPS </a:t>
            </a:r>
            <a:r>
              <a:rPr lang="en-US" sz="2000" dirty="0" smtClean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coordinates</a:t>
            </a:r>
            <a:endParaRPr lang="en-US" sz="20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Battery </a:t>
            </a:r>
            <a:r>
              <a:rPr lang="en-US" sz="20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level </a:t>
            </a:r>
            <a:r>
              <a:rPr lang="en-US" sz="2000" dirty="0" smtClean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display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Broadcast counter</a:t>
            </a:r>
            <a:endParaRPr lang="en-US" sz="20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294452" y="742949"/>
            <a:ext cx="3106848" cy="59912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745" y="0"/>
            <a:ext cx="32722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482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6127"/>
            <a:ext cx="12192000" cy="685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Google Shape;145;p17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E852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81050" y="581025"/>
            <a:ext cx="8305800" cy="50482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300" b="1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App Screens</a:t>
            </a:r>
            <a:endParaRPr lang="en-US" sz="3300" b="1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1025" y="1376362"/>
            <a:ext cx="3819525" cy="5810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smtClean="0">
                <a:solidFill>
                  <a:schemeClr val="accent6">
                    <a:lumMod val="50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MESH Tab</a:t>
            </a:r>
            <a:endParaRPr lang="en-US" sz="2000" b="1" dirty="0">
              <a:solidFill>
                <a:schemeClr val="accent6">
                  <a:lumMod val="50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2462" y="2076451"/>
            <a:ext cx="3895725" cy="22336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BLE </a:t>
            </a:r>
            <a:r>
              <a:rPr lang="en-US" sz="20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peer </a:t>
            </a:r>
            <a:r>
              <a:rPr lang="en-US" sz="2000" dirty="0" smtClean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count</a:t>
            </a:r>
            <a:endParaRPr lang="en-US" sz="20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Wi-Fi </a:t>
            </a:r>
            <a:r>
              <a:rPr lang="en-US" sz="20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Direct peer </a:t>
            </a:r>
            <a:r>
              <a:rPr lang="en-US" sz="2000" dirty="0" smtClean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count</a:t>
            </a:r>
            <a:endParaRPr lang="en-US" sz="20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Messages </a:t>
            </a:r>
            <a:r>
              <a:rPr lang="en-US" sz="20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relayed </a:t>
            </a:r>
            <a:r>
              <a:rPr lang="en-US" sz="2000" dirty="0" smtClean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count</a:t>
            </a:r>
            <a:endParaRPr lang="en-US" sz="20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Pre-flight checklist</a:t>
            </a:r>
            <a:endParaRPr lang="en-US" sz="20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BLE diagnostics</a:t>
            </a:r>
            <a:endParaRPr lang="en-US" sz="20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294452" y="742949"/>
            <a:ext cx="3106848" cy="59912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1848" y="0"/>
            <a:ext cx="32357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787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A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/>
          <p:nvPr/>
        </p:nvSpPr>
        <p:spPr>
          <a:xfrm>
            <a:off x="581025" y="3252787"/>
            <a:ext cx="11029950" cy="19050"/>
          </a:xfrm>
          <a:prstGeom prst="rect">
            <a:avLst/>
          </a:prstGeom>
          <a:solidFill>
            <a:srgbClr val="2A27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1457398" y="3195637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852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531390" y="3729037"/>
            <a:ext cx="208463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8521A"/>
                </a:solidFill>
                <a:latin typeface="Urbanist"/>
                <a:ea typeface="Urbanist"/>
                <a:cs typeface="Urbanist"/>
                <a:sym typeface="Urbanist"/>
              </a:rPr>
              <a:t>1. Initiation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609600" y="4145211"/>
            <a:ext cx="198536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DE5"/>
                </a:solidFill>
                <a:latin typeface="Inter"/>
                <a:ea typeface="Inter"/>
                <a:cs typeface="Inter"/>
                <a:sym typeface="Inter"/>
              </a:rPr>
              <a:t>User activates SOS button; app grabs current GPS.</a:t>
            </a:r>
            <a:endParaRPr dirty="0"/>
          </a:p>
        </p:txBody>
      </p:sp>
      <p:sp>
        <p:nvSpPr>
          <p:cNvPr id="178" name="Google Shape;178;p19"/>
          <p:cNvSpPr/>
          <p:nvPr/>
        </p:nvSpPr>
        <p:spPr>
          <a:xfrm>
            <a:off x="3780344" y="318080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852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2792536" y="3729037"/>
            <a:ext cx="208463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8521A"/>
                </a:solidFill>
                <a:latin typeface="Urbanist"/>
                <a:ea typeface="Urbanist"/>
                <a:cs typeface="Urbanist"/>
                <a:sym typeface="Urbanist"/>
              </a:rPr>
              <a:t>2. Broadcast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2891804" y="4149836"/>
            <a:ext cx="198536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DE5"/>
                </a:solidFill>
                <a:latin typeface="Inter"/>
                <a:ea typeface="Inter"/>
                <a:cs typeface="Inter"/>
                <a:sym typeface="Inter"/>
              </a:rPr>
              <a:t>Foreground Service starts BLE advertising payload.</a:t>
            </a:r>
            <a:endParaRPr dirty="0"/>
          </a:p>
        </p:txBody>
      </p:sp>
      <p:sp>
        <p:nvSpPr>
          <p:cNvPr id="181" name="Google Shape;181;p19"/>
          <p:cNvSpPr/>
          <p:nvPr/>
        </p:nvSpPr>
        <p:spPr>
          <a:xfrm>
            <a:off x="6029324" y="3203462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852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5053682" y="3729037"/>
            <a:ext cx="208463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8521A"/>
                </a:solidFill>
                <a:latin typeface="Urbanist"/>
                <a:ea typeface="Urbanist"/>
                <a:cs typeface="Urbanist"/>
                <a:sym typeface="Urbanist"/>
              </a:rPr>
              <a:t>3. Propagation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5259698" y="4145211"/>
            <a:ext cx="198536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DE5"/>
                </a:solidFill>
                <a:latin typeface="Inter"/>
                <a:ea typeface="Inter"/>
                <a:cs typeface="Inter"/>
                <a:sym typeface="Inter"/>
              </a:rPr>
              <a:t>Nearby nodes receive and increment hop count.</a:t>
            </a:r>
            <a:endParaRPr dirty="0"/>
          </a:p>
        </p:txBody>
      </p:sp>
      <p:sp>
        <p:nvSpPr>
          <p:cNvPr id="184" name="Google Shape;184;p19"/>
          <p:cNvSpPr/>
          <p:nvPr/>
        </p:nvSpPr>
        <p:spPr>
          <a:xfrm>
            <a:off x="8285595" y="3203462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852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7314827" y="3729037"/>
            <a:ext cx="208463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8521A"/>
                </a:solidFill>
                <a:latin typeface="Urbanist"/>
                <a:ea typeface="Urbanist"/>
                <a:cs typeface="Urbanist"/>
                <a:sym typeface="Urbanist"/>
              </a:rPr>
              <a:t>4. Reception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7393037" y="4145211"/>
            <a:ext cx="198536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DE5"/>
                </a:solidFill>
                <a:latin typeface="Inter"/>
                <a:ea typeface="Inter"/>
                <a:cs typeface="Inter"/>
                <a:sym typeface="Inter"/>
              </a:rPr>
              <a:t>Rescuer device triggers vibration and alert card.</a:t>
            </a:r>
            <a:endParaRPr dirty="0"/>
          </a:p>
        </p:txBody>
      </p:sp>
      <p:sp>
        <p:nvSpPr>
          <p:cNvPr id="187" name="Google Shape;187;p19"/>
          <p:cNvSpPr/>
          <p:nvPr/>
        </p:nvSpPr>
        <p:spPr>
          <a:xfrm>
            <a:off x="10484940" y="3213939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852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9575973" y="3729037"/>
            <a:ext cx="208463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8521A"/>
                </a:solidFill>
                <a:latin typeface="Urbanist"/>
                <a:ea typeface="Urbanist"/>
                <a:cs typeface="Urbanist"/>
                <a:sym typeface="Urbanist"/>
              </a:rPr>
              <a:t>5. Visualization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9675241" y="4145211"/>
            <a:ext cx="198536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DE5"/>
                </a:solidFill>
                <a:latin typeface="Inter"/>
                <a:ea typeface="Inter"/>
                <a:cs typeface="Inter"/>
                <a:sym typeface="Inter"/>
              </a:rPr>
              <a:t>Pulsing pin drops on map at exact victim location.</a:t>
            </a:r>
            <a:endParaRPr dirty="0"/>
          </a:p>
        </p:txBody>
      </p:sp>
      <p:sp>
        <p:nvSpPr>
          <p:cNvPr id="190" name="Google Shape;190;p19"/>
          <p:cNvSpPr txBox="1"/>
          <p:nvPr/>
        </p:nvSpPr>
        <p:spPr>
          <a:xfrm>
            <a:off x="771525" y="581025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2EDE5"/>
                </a:solidFill>
                <a:latin typeface="Urbanist"/>
                <a:ea typeface="Urbanist"/>
                <a:cs typeface="Urbanist"/>
                <a:sym typeface="Urbanist"/>
              </a:rPr>
              <a:t>OPERATIONAL WORKFLOW</a:t>
            </a:r>
            <a:endParaRPr dirty="0"/>
          </a:p>
        </p:txBody>
      </p:sp>
      <p:sp>
        <p:nvSpPr>
          <p:cNvPr id="191" name="Google Shape;191;p19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E852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A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581025" y="581025"/>
            <a:ext cx="519064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smtClean="0">
                <a:solidFill>
                  <a:srgbClr val="F2EDE5"/>
                </a:solidFill>
                <a:latin typeface="Urbanist"/>
                <a:ea typeface="Urbanist"/>
                <a:cs typeface="Urbanist"/>
                <a:sym typeface="Urbanist"/>
              </a:rPr>
              <a:t>  AIRPLANE </a:t>
            </a:r>
            <a:r>
              <a:rPr lang="en-US" sz="3300" b="1" i="0" u="none" strike="noStrike" cap="none" dirty="0">
                <a:solidFill>
                  <a:srgbClr val="F2EDE5"/>
                </a:solidFill>
                <a:latin typeface="Urbanist"/>
                <a:ea typeface="Urbanist"/>
                <a:cs typeface="Urbanist"/>
                <a:sym typeface="Urbanist"/>
              </a:rPr>
              <a:t>MODE PROOF</a:t>
            </a:r>
            <a:endParaRPr dirty="0"/>
          </a:p>
        </p:txBody>
      </p:sp>
      <p:sp>
        <p:nvSpPr>
          <p:cNvPr id="199" name="Google Shape;199;p20"/>
          <p:cNvSpPr txBox="1"/>
          <p:nvPr/>
        </p:nvSpPr>
        <p:spPr>
          <a:xfrm>
            <a:off x="581025" y="3001416"/>
            <a:ext cx="49434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2EDE5"/>
                </a:solidFill>
                <a:latin typeface="Inter"/>
                <a:ea typeface="Inter"/>
                <a:cs typeface="Inter"/>
                <a:sym typeface="Inter"/>
              </a:rPr>
              <a:t>The ultimate test of resilience. EmberNet operates in total isolation.</a:t>
            </a:r>
            <a:endParaRPr dirty="0"/>
          </a:p>
        </p:txBody>
      </p:sp>
      <p:sp>
        <p:nvSpPr>
          <p:cNvPr id="200" name="Google Shape;200;p20"/>
          <p:cNvSpPr txBox="1"/>
          <p:nvPr/>
        </p:nvSpPr>
        <p:spPr>
          <a:xfrm>
            <a:off x="581025" y="3923258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DE5"/>
                </a:solidFill>
                <a:latin typeface="Inter"/>
                <a:ea typeface="Inter"/>
                <a:cs typeface="Inter"/>
                <a:sym typeface="Inter"/>
              </a:rPr>
              <a:t>Internet disabled via Airplane Mode</a:t>
            </a:r>
            <a:endParaRPr dirty="0"/>
          </a:p>
        </p:txBody>
      </p:sp>
      <p:sp>
        <p:nvSpPr>
          <p:cNvPr id="201" name="Google Shape;201;p20"/>
          <p:cNvSpPr txBox="1"/>
          <p:nvPr/>
        </p:nvSpPr>
        <p:spPr>
          <a:xfrm>
            <a:off x="581025" y="4370933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DE5"/>
                </a:solidFill>
                <a:latin typeface="Inter"/>
                <a:ea typeface="Inter"/>
                <a:cs typeface="Inter"/>
                <a:sym typeface="Inter"/>
              </a:rPr>
              <a:t>Bluetooth enabled for P2P only</a:t>
            </a:r>
            <a:endParaRPr dirty="0"/>
          </a:p>
        </p:txBody>
      </p:sp>
      <p:sp>
        <p:nvSpPr>
          <p:cNvPr id="202" name="Google Shape;202;p20"/>
          <p:cNvSpPr txBox="1"/>
          <p:nvPr/>
        </p:nvSpPr>
        <p:spPr>
          <a:xfrm>
            <a:off x="581025" y="4818608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DE5"/>
                </a:solidFill>
                <a:latin typeface="Inter"/>
                <a:ea typeface="Inter"/>
                <a:cs typeface="Inter"/>
                <a:sym typeface="Inter"/>
              </a:rPr>
              <a:t>Real-time location sync between devices</a:t>
            </a:r>
            <a:endParaRPr dirty="0"/>
          </a:p>
        </p:txBody>
      </p:sp>
      <p:pic>
        <p:nvPicPr>
          <p:cNvPr id="203" name="Google Shape;20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97564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42332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870995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7620000" y="1304925"/>
            <a:ext cx="3076575" cy="38957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3411" y="0"/>
            <a:ext cx="3693164" cy="6858000"/>
          </a:xfrm>
          <a:prstGeom prst="rect">
            <a:avLst/>
          </a:prstGeom>
        </p:spPr>
      </p:pic>
      <p:sp>
        <p:nvSpPr>
          <p:cNvPr id="14" name="Google Shape;191;p19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E852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A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527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195262" y="2773709"/>
            <a:ext cx="52292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 dirty="0">
                <a:solidFill>
                  <a:srgbClr val="E8521A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 dirty="0"/>
          </a:p>
        </p:txBody>
      </p:sp>
      <p:sp>
        <p:nvSpPr>
          <p:cNvPr id="228" name="Google Shape;228;p22"/>
          <p:cNvSpPr txBox="1"/>
          <p:nvPr/>
        </p:nvSpPr>
        <p:spPr>
          <a:xfrm>
            <a:off x="195263" y="4231034"/>
            <a:ext cx="52292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2EDE5"/>
                </a:solidFill>
                <a:latin typeface="Inter Medium"/>
                <a:ea typeface="Inter Medium"/>
                <a:cs typeface="Inter Medium"/>
                <a:sym typeface="Inter Medium"/>
              </a:rPr>
              <a:t>INTERNET NEEDED</a:t>
            </a:r>
            <a:endParaRPr dirty="0"/>
          </a:p>
        </p:txBody>
      </p:sp>
      <p:sp>
        <p:nvSpPr>
          <p:cNvPr id="229" name="Google Shape;229;p22"/>
          <p:cNvSpPr txBox="1"/>
          <p:nvPr/>
        </p:nvSpPr>
        <p:spPr>
          <a:xfrm>
            <a:off x="6381750" y="2664172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2EDE5"/>
                </a:solidFill>
                <a:latin typeface="Urbanist"/>
                <a:ea typeface="Urbanist"/>
                <a:cs typeface="Urbanist"/>
                <a:sym typeface="Urbanist"/>
              </a:rPr>
              <a:t>Efficiency in Numbers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6381750" y="3073747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DE5"/>
                </a:solidFill>
                <a:latin typeface="Inter"/>
                <a:ea typeface="Inter"/>
                <a:cs typeface="Inter"/>
                <a:sym typeface="Inter"/>
              </a:rPr>
              <a:t>EmberNet was built to maximize survival odds with minimal resources. The system is designed to be lightweight, power-efficient, and universally compatible.</a:t>
            </a:r>
            <a:endParaRPr dirty="0"/>
          </a:p>
        </p:txBody>
      </p:sp>
      <p:sp>
        <p:nvSpPr>
          <p:cNvPr id="231" name="Google Shape;231;p22"/>
          <p:cNvSpPr txBox="1"/>
          <p:nvPr/>
        </p:nvSpPr>
        <p:spPr>
          <a:xfrm>
            <a:off x="6381750" y="4369147"/>
            <a:ext cx="828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 smtClean="0">
                <a:solidFill>
                  <a:srgbClr val="E8521A"/>
                </a:solidFill>
                <a:latin typeface="Inter"/>
                <a:ea typeface="Inter"/>
                <a:cs typeface="Inter"/>
                <a:sym typeface="Inter"/>
              </a:rPr>
              <a:t>25</a:t>
            </a:r>
            <a:r>
              <a:rPr lang="en-US" sz="3000" b="1" i="0" u="none" strike="noStrike" cap="none" dirty="0" smtClean="0">
                <a:solidFill>
                  <a:srgbClr val="E8521A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dirty="0"/>
          </a:p>
        </p:txBody>
      </p:sp>
      <p:sp>
        <p:nvSpPr>
          <p:cNvPr id="232" name="Google Shape;232;p22"/>
          <p:cNvSpPr txBox="1"/>
          <p:nvPr/>
        </p:nvSpPr>
        <p:spPr>
          <a:xfrm>
            <a:off x="6381750" y="4835872"/>
            <a:ext cx="8286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2EDE5"/>
                </a:solidFill>
                <a:latin typeface="Inter"/>
                <a:ea typeface="Inter"/>
                <a:cs typeface="Inter"/>
                <a:sym typeface="Inter"/>
              </a:rPr>
              <a:t>JAVA FILES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7591425" y="4369147"/>
            <a:ext cx="148590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E8521A"/>
                </a:solidFill>
                <a:latin typeface="Inter"/>
                <a:ea typeface="Inter"/>
                <a:cs typeface="Inter"/>
                <a:sym typeface="Inter"/>
              </a:rPr>
              <a:t>200m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7591425" y="4835872"/>
            <a:ext cx="14859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2EDE5"/>
                </a:solidFill>
                <a:latin typeface="Inter"/>
                <a:ea typeface="Inter"/>
                <a:cs typeface="Inter"/>
                <a:sym typeface="Inter"/>
              </a:rPr>
              <a:t>WIFI DIRECT RANGE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9458325" y="4369147"/>
            <a:ext cx="10763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E8521A"/>
                </a:solidFill>
                <a:latin typeface="Inter"/>
                <a:ea typeface="Inter"/>
                <a:cs typeface="Inter"/>
                <a:sym typeface="Inter"/>
              </a:rPr>
              <a:t>4s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9458325" y="4835872"/>
            <a:ext cx="10763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2EDE5"/>
                </a:solidFill>
                <a:latin typeface="Inter"/>
                <a:ea typeface="Inter"/>
                <a:cs typeface="Inter"/>
                <a:sym typeface="Inter"/>
              </a:rPr>
              <a:t>SOS INTERVAL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771525" y="581025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2EDE5"/>
                </a:solidFill>
                <a:latin typeface="Urbanist"/>
                <a:ea typeface="Urbanist"/>
                <a:cs typeface="Urbanist"/>
                <a:sym typeface="Urbanist"/>
              </a:rPr>
              <a:t>PROJECT IMPACT</a:t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E852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A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1" name="Google Shape;151;p18"/>
          <p:cNvGraphicFramePr/>
          <p:nvPr>
            <p:extLst>
              <p:ext uri="{D42A27DB-BD31-4B8C-83A1-F6EECF244321}">
                <p14:modId xmlns:p14="http://schemas.microsoft.com/office/powerpoint/2010/main" val="1895290698"/>
              </p:ext>
            </p:extLst>
          </p:nvPr>
        </p:nvGraphicFramePr>
        <p:xfrm>
          <a:off x="581025" y="2462212"/>
          <a:ext cx="11029950" cy="300987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02675"/>
                <a:gridCol w="3676650"/>
                <a:gridCol w="5050625"/>
              </a:tblGrid>
              <a:tr h="60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Component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Technology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Purpose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</a:tr>
              <a:tr h="60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ym typeface="Inter"/>
                        </a:rPr>
                        <a:t>Language &amp; IDE</a:t>
                      </a:r>
                      <a:endParaRPr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ym typeface="Inter"/>
                        </a:rPr>
                        <a:t>Java | Android Studio</a:t>
                      </a:r>
                      <a:endParaRPr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ym typeface="Inter"/>
                        </a:rPr>
                        <a:t>Native performance and reliability</a:t>
                      </a:r>
                      <a:endParaRPr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63500" marR="63500" marT="25400" marB="25400" anchor="ctr"/>
                </a:tc>
              </a:tr>
              <a:tr h="60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ym typeface="Inter"/>
                        </a:rPr>
                        <a:t>Networking</a:t>
                      </a:r>
                      <a:endParaRPr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ym typeface="Inter"/>
                        </a:rPr>
                        <a:t>BLE | Wi-Fi Direct</a:t>
                      </a:r>
                      <a:endParaRPr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ym typeface="Inter"/>
                        </a:rPr>
                        <a:t>P2P transmission (Airplane Mode Proof)</a:t>
                      </a:r>
                      <a:endParaRPr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63500" marR="63500" marT="25400" marB="25400" anchor="ctr"/>
                </a:tc>
              </a:tr>
              <a:tr h="60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>
                          <a:sym typeface="Inter"/>
                        </a:rPr>
                        <a:t>Mapping</a:t>
                      </a:r>
                      <a:endParaRPr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 err="1">
                          <a:sym typeface="Inter"/>
                        </a:rPr>
                        <a:t>OSMDroid</a:t>
                      </a:r>
                      <a:r>
                        <a:rPr lang="en-US" sz="1350" u="none" strike="noStrike" cap="none" dirty="0">
                          <a:sym typeface="Inter"/>
                        </a:rPr>
                        <a:t> | </a:t>
                      </a:r>
                      <a:r>
                        <a:rPr lang="en-US" sz="1350" u="none" strike="noStrike" cap="none" dirty="0" err="1">
                          <a:sym typeface="Inter"/>
                        </a:rPr>
                        <a:t>OpenStreetMap</a:t>
                      </a:r>
                      <a:endParaRPr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ym typeface="Inter"/>
                        </a:rPr>
                        <a:t>Full offline geographic intelligence</a:t>
                      </a:r>
                      <a:endParaRPr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63500" marR="63500" marT="25400" marB="25400" anchor="ctr"/>
                </a:tc>
              </a:tr>
              <a:tr h="60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ym typeface="Inter"/>
                        </a:rPr>
                        <a:t>Interface</a:t>
                      </a:r>
                      <a:endParaRPr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ym typeface="Inter"/>
                        </a:rPr>
                        <a:t>Material 3 | Lottie</a:t>
                      </a:r>
                      <a:endParaRPr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ym typeface="Inter"/>
                        </a:rPr>
                        <a:t>Professional UX and high visibility</a:t>
                      </a:r>
                      <a:endParaRPr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63500" marR="63500" marT="25400" marB="25400" anchor="ctr"/>
                </a:tc>
              </a:tr>
            </a:tbl>
          </a:graphicData>
        </a:graphic>
      </p:graphicFrame>
      <p:sp>
        <p:nvSpPr>
          <p:cNvPr id="152" name="Google Shape;152;p18"/>
          <p:cNvSpPr/>
          <p:nvPr/>
        </p:nvSpPr>
        <p:spPr>
          <a:xfrm>
            <a:off x="581025" y="3081337"/>
            <a:ext cx="2302668" cy="19050"/>
          </a:xfrm>
          <a:prstGeom prst="rect">
            <a:avLst/>
          </a:prstGeom>
          <a:solidFill>
            <a:srgbClr val="E852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2883693" y="3081337"/>
            <a:ext cx="3676650" cy="19050"/>
          </a:xfrm>
          <a:prstGeom prst="rect">
            <a:avLst/>
          </a:prstGeom>
          <a:solidFill>
            <a:srgbClr val="E852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6560343" y="3081337"/>
            <a:ext cx="5050631" cy="19050"/>
          </a:xfrm>
          <a:prstGeom prst="rect">
            <a:avLst/>
          </a:prstGeom>
          <a:solidFill>
            <a:srgbClr val="E852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581025" y="3686175"/>
            <a:ext cx="2302668" cy="9525"/>
          </a:xfrm>
          <a:prstGeom prst="rect">
            <a:avLst/>
          </a:prstGeom>
          <a:solidFill>
            <a:srgbClr val="2A27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2883693" y="3686175"/>
            <a:ext cx="3676650" cy="9525"/>
          </a:xfrm>
          <a:prstGeom prst="rect">
            <a:avLst/>
          </a:prstGeom>
          <a:solidFill>
            <a:srgbClr val="2A27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6560343" y="3686175"/>
            <a:ext cx="5050631" cy="9525"/>
          </a:xfrm>
          <a:prstGeom prst="rect">
            <a:avLst/>
          </a:prstGeom>
          <a:solidFill>
            <a:srgbClr val="2A27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581025" y="4276725"/>
            <a:ext cx="2302668" cy="9525"/>
          </a:xfrm>
          <a:prstGeom prst="rect">
            <a:avLst/>
          </a:prstGeom>
          <a:solidFill>
            <a:srgbClr val="2A27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2883693" y="4276725"/>
            <a:ext cx="3676650" cy="9525"/>
          </a:xfrm>
          <a:prstGeom prst="rect">
            <a:avLst/>
          </a:prstGeom>
          <a:solidFill>
            <a:srgbClr val="2A27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6560343" y="4276725"/>
            <a:ext cx="5050631" cy="9525"/>
          </a:xfrm>
          <a:prstGeom prst="rect">
            <a:avLst/>
          </a:prstGeom>
          <a:solidFill>
            <a:srgbClr val="2A27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581025" y="4867275"/>
            <a:ext cx="2302668" cy="9525"/>
          </a:xfrm>
          <a:prstGeom prst="rect">
            <a:avLst/>
          </a:prstGeom>
          <a:solidFill>
            <a:srgbClr val="2A27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2883693" y="4867275"/>
            <a:ext cx="3676650" cy="9525"/>
          </a:xfrm>
          <a:prstGeom prst="rect">
            <a:avLst/>
          </a:prstGeom>
          <a:solidFill>
            <a:srgbClr val="2A27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6560343" y="4867275"/>
            <a:ext cx="5050631" cy="9525"/>
          </a:xfrm>
          <a:prstGeom prst="rect">
            <a:avLst/>
          </a:prstGeom>
          <a:solidFill>
            <a:srgbClr val="2A27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581025" y="5457825"/>
            <a:ext cx="2302668" cy="9525"/>
          </a:xfrm>
          <a:prstGeom prst="rect">
            <a:avLst/>
          </a:prstGeom>
          <a:solidFill>
            <a:srgbClr val="2A27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2883693" y="5457825"/>
            <a:ext cx="3676650" cy="9525"/>
          </a:xfrm>
          <a:prstGeom prst="rect">
            <a:avLst/>
          </a:prstGeom>
          <a:solidFill>
            <a:srgbClr val="2A27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6560343" y="5457825"/>
            <a:ext cx="5050631" cy="9525"/>
          </a:xfrm>
          <a:prstGeom prst="rect">
            <a:avLst/>
          </a:prstGeom>
          <a:solidFill>
            <a:srgbClr val="2A27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771525" y="581025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2EDE5"/>
                </a:solidFill>
                <a:latin typeface="Urbanist"/>
                <a:ea typeface="Urbanist"/>
                <a:cs typeface="Urbanist"/>
                <a:sym typeface="Urbanist"/>
              </a:rPr>
              <a:t>TECHNOLOGY STACK</a:t>
            </a:r>
            <a:endParaRPr dirty="0"/>
          </a:p>
        </p:txBody>
      </p:sp>
      <p:sp>
        <p:nvSpPr>
          <p:cNvPr id="168" name="Google Shape;168;p18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E852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A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962025" y="2647057"/>
            <a:ext cx="106489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1" u="none" strike="noStrike" cap="none" dirty="0">
                <a:solidFill>
                  <a:srgbClr val="F2EDE5"/>
                </a:solidFill>
                <a:latin typeface="Urbanist"/>
                <a:ea typeface="Urbanist"/>
                <a:cs typeface="Urbanist"/>
                <a:sym typeface="Urbanist"/>
              </a:rPr>
              <a:t> "When everything goes wrong — EmberNet keeps you connected." </a:t>
            </a:r>
            <a:endParaRPr dirty="0"/>
          </a:p>
        </p:txBody>
      </p:sp>
      <p:sp>
        <p:nvSpPr>
          <p:cNvPr id="245" name="Google Shape;245;p23"/>
          <p:cNvSpPr/>
          <p:nvPr/>
        </p:nvSpPr>
        <p:spPr>
          <a:xfrm>
            <a:off x="581025" y="2647057"/>
            <a:ext cx="95250" cy="1097160"/>
          </a:xfrm>
          <a:prstGeom prst="rect">
            <a:avLst/>
          </a:prstGeom>
          <a:solidFill>
            <a:srgbClr val="E852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 txBox="1"/>
          <p:nvPr/>
        </p:nvSpPr>
        <p:spPr>
          <a:xfrm>
            <a:off x="581025" y="3934717"/>
            <a:ext cx="110299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 dirty="0">
                <a:solidFill>
                  <a:srgbClr val="E852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— The Vision Behind the Project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8087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0A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-1" y="2971800"/>
            <a:ext cx="1158144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u="none" strike="noStrike" cap="none" dirty="0" smtClean="0">
                <a:solidFill>
                  <a:srgbClr val="E8521A"/>
                </a:solidFill>
                <a:latin typeface="Urbanist"/>
                <a:ea typeface="Urbanist"/>
                <a:cs typeface="Urbanist"/>
                <a:sym typeface="Urbanist"/>
              </a:rPr>
              <a:t>THANK YOU…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433</Words>
  <Application>Microsoft Office PowerPoint</Application>
  <PresentationFormat>Widescreen</PresentationFormat>
  <Paragraphs>87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Urbanist</vt:lpstr>
      <vt:lpstr>Inter</vt:lpstr>
      <vt:lpstr>Inter Medium</vt:lpstr>
      <vt:lpstr>Calibri</vt:lpstr>
      <vt:lpstr>Inter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Ayesha Noor</cp:lastModifiedBy>
  <cp:revision>15</cp:revision>
  <dcterms:modified xsi:type="dcterms:W3CDTF">2026-05-11T01:34:05Z</dcterms:modified>
</cp:coreProperties>
</file>